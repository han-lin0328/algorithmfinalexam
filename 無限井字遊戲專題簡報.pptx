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embeddedFontLst>
    <p:embeddedFont>
      <p:font typeface="Urbanist" panose="02020500000000000000" charset="0"/>
      <p:regular r:id="rId14"/>
      <p:bold r:id="rId15"/>
      <p:italic r:id="rId16"/>
      <p:boldItalic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629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" name="Google Shape;22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2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11668124" y="6391274"/>
            <a:ext cx="228219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01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762000" y="1775668"/>
            <a:ext cx="106680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INTERACTIVE WEB PROJECT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762000" y="2301329"/>
            <a:ext cx="11201400" cy="182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無限井字遊戲：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54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動態配對與即時同步架構</a:t>
            </a:r>
            <a:endParaRPr/>
          </a:p>
        </p:txBody>
      </p:sp>
      <p:sp>
        <p:nvSpPr>
          <p:cNvPr id="88" name="Google Shape;88;p13"/>
          <p:cNvSpPr/>
          <p:nvPr/>
        </p:nvSpPr>
        <p:spPr>
          <a:xfrm>
            <a:off x="762000" y="4328070"/>
            <a:ext cx="9525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762000" y="4694749"/>
            <a:ext cx="10668000" cy="977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國立澎湖科技大學</a:t>
            </a:r>
            <a:endParaRPr sz="1650" b="0">
              <a:solidFill>
                <a:srgbClr val="CBD5E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650" b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資</a:t>
            </a:r>
            <a:r>
              <a:rPr lang="en-US" sz="165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工二甲</a:t>
            </a:r>
            <a:endParaRPr sz="1650" b="0">
              <a:solidFill>
                <a:srgbClr val="CBD5E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0" lvl="0" indent="0" algn="l" rtl="0">
              <a:spcBef>
                <a:spcPts val="90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林柏翰</a:t>
            </a:r>
            <a:endParaRPr sz="1800" b="1">
              <a:solidFill>
                <a:srgbClr val="CBD5E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2319325"/>
            <a:ext cx="5238750" cy="647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191250" y="2319337"/>
            <a:ext cx="5238750" cy="647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62000" y="3157537"/>
            <a:ext cx="5238750" cy="647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191250" y="3157537"/>
            <a:ext cx="5238750" cy="647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62000" y="3995737"/>
            <a:ext cx="5238750" cy="647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191250" y="3995737"/>
            <a:ext cx="5238750" cy="647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4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762000" y="4833937"/>
            <a:ext cx="5238750" cy="647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1000125" y="571500"/>
            <a:ext cx="109515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簡報大綱 目錄</a:t>
            </a:r>
            <a:endParaRPr/>
          </a:p>
        </p:txBody>
      </p:sp>
      <p:sp>
        <p:nvSpPr>
          <p:cNvPr id="103" name="Google Shape;103;p14"/>
          <p:cNvSpPr/>
          <p:nvPr/>
        </p:nvSpPr>
        <p:spPr>
          <a:xfrm>
            <a:off x="762000" y="571500"/>
            <a:ext cx="76200" cy="5619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4"/>
          <p:cNvSpPr txBox="1"/>
          <p:nvPr/>
        </p:nvSpPr>
        <p:spPr>
          <a:xfrm>
            <a:off x="11641469" y="6400800"/>
            <a:ext cx="3099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02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2908101"/>
            <a:ext cx="5143500" cy="20323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2908101"/>
            <a:ext cx="5143500" cy="2032396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/>
          <p:cNvSpPr txBox="1"/>
          <p:nvPr/>
        </p:nvSpPr>
        <p:spPr>
          <a:xfrm>
            <a:off x="1000125" y="571500"/>
            <a:ext cx="109515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研究</a:t>
            </a:r>
            <a:r>
              <a:rPr lang="en-US" sz="3300" b="1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背景與動機</a:t>
            </a:r>
            <a:endParaRPr/>
          </a:p>
        </p:txBody>
      </p:sp>
      <p:sp>
        <p:nvSpPr>
          <p:cNvPr id="113" name="Google Shape;113;p15"/>
          <p:cNvSpPr/>
          <p:nvPr/>
        </p:nvSpPr>
        <p:spPr>
          <a:xfrm>
            <a:off x="762000" y="571500"/>
            <a:ext cx="76200" cy="6096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5"/>
          <p:cNvSpPr txBox="1"/>
          <p:nvPr/>
        </p:nvSpPr>
        <p:spPr>
          <a:xfrm>
            <a:off x="11639550" y="6391275"/>
            <a:ext cx="171450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03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1514475" y="3203376"/>
            <a:ext cx="4300537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傳統井字棋侷限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1057275" y="3765351"/>
            <a:ext cx="455295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棋盤空間有限（3x3），熟練玩家容易進入「必和局」的死胡同，缺乏變數與趣味性。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6915150" y="3203376"/>
            <a:ext cx="4430553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無限規則構想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6581775" y="3765351"/>
            <a:ext cx="455295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引入印記上限與自動消除機制，棋盤狀態動態輪轉，挑戰玩家的長期佈局策略。</a:t>
            </a:r>
            <a:endParaRPr/>
          </a:p>
        </p:txBody>
      </p:sp>
      <p:pic>
        <p:nvPicPr>
          <p:cNvPr id="119" name="Google Shape;119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57275" y="3255764"/>
            <a:ext cx="3143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581775" y="3255764"/>
            <a:ext cx="1905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>
            <a:off x="1009725" y="763050"/>
            <a:ext cx="109515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遊戲核心機制：三印記限制</a:t>
            </a:r>
            <a:endParaRPr/>
          </a:p>
        </p:txBody>
      </p:sp>
      <p:sp>
        <p:nvSpPr>
          <p:cNvPr id="127" name="Google Shape;127;p16"/>
          <p:cNvSpPr/>
          <p:nvPr/>
        </p:nvSpPr>
        <p:spPr>
          <a:xfrm>
            <a:off x="762000" y="571500"/>
            <a:ext cx="76200" cy="5619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6"/>
          <p:cNvSpPr txBox="1"/>
          <p:nvPr/>
        </p:nvSpPr>
        <p:spPr>
          <a:xfrm>
            <a:off x="11641470" y="6400800"/>
            <a:ext cx="2616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04</a:t>
            </a:r>
            <a:endParaRPr/>
          </a:p>
        </p:txBody>
      </p:sp>
      <p:grpSp>
        <p:nvGrpSpPr>
          <p:cNvPr id="129" name="Google Shape;129;p16"/>
          <p:cNvGrpSpPr/>
          <p:nvPr/>
        </p:nvGrpSpPr>
        <p:grpSpPr>
          <a:xfrm>
            <a:off x="762000" y="1714500"/>
            <a:ext cx="10668000" cy="4314900"/>
            <a:chOff x="762000" y="1714500"/>
            <a:chExt cx="10668000" cy="4314900"/>
          </a:xfrm>
        </p:grpSpPr>
        <p:sp>
          <p:nvSpPr>
            <p:cNvPr id="130" name="Google Shape;130;p16"/>
            <p:cNvSpPr/>
            <p:nvPr/>
          </p:nvSpPr>
          <p:spPr>
            <a:xfrm>
              <a:off x="762000" y="1714500"/>
              <a:ext cx="5143500" cy="2028900"/>
            </a:xfrm>
            <a:prstGeom prst="roundRect">
              <a:avLst>
                <a:gd name="adj" fmla="val 5633"/>
              </a:avLst>
            </a:prstGeom>
            <a:solidFill>
              <a:srgbClr val="1E293B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16"/>
            <p:cNvSpPr txBox="1"/>
            <p:nvPr/>
          </p:nvSpPr>
          <p:spPr>
            <a:xfrm>
              <a:off x="1047750" y="2000250"/>
              <a:ext cx="4572000" cy="145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950" b="1">
                  <a:solidFill>
                    <a:srgbClr val="FFFFFF"/>
                  </a:solidFill>
                  <a:latin typeface="Urbanist"/>
                  <a:ea typeface="Urbanist"/>
                  <a:cs typeface="Urbanist"/>
                  <a:sym typeface="Urbanist"/>
                </a:rPr>
                <a:t>印記存留與 FIFO</a:t>
              </a:r>
              <a:endParaRPr sz="1950" b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endParaRPr>
            </a:p>
            <a:p>
              <a:pPr marL="0" lvl="0" indent="0" algn="l" rtl="0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lang="en-US" sz="1650" b="0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每位玩家場上最多保留 3 個符號。放置第 4 個印記時，系統執行 </a:t>
              </a:r>
              <a:r>
                <a:rPr lang="en-US" sz="1650" b="1">
                  <a:solidFill>
                    <a:srgbClr val="38BDF8"/>
                  </a:solidFill>
                  <a:latin typeface="Urbanist"/>
                  <a:ea typeface="Urbanist"/>
                  <a:cs typeface="Urbanist"/>
                  <a:sym typeface="Urbanist"/>
                </a:rPr>
                <a:t>shift()</a:t>
              </a:r>
              <a:r>
                <a:rPr lang="en-US" sz="1650" b="0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 取出最舊座標並自動消失。</a:t>
              </a:r>
              <a:endParaRPr sz="1650" b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sp>
          <p:nvSpPr>
            <p:cNvPr id="132" name="Google Shape;132;p16"/>
            <p:cNvSpPr/>
            <p:nvPr/>
          </p:nvSpPr>
          <p:spPr>
            <a:xfrm>
              <a:off x="6286500" y="1714500"/>
              <a:ext cx="5143500" cy="2028900"/>
            </a:xfrm>
            <a:prstGeom prst="roundRect">
              <a:avLst>
                <a:gd name="adj" fmla="val 5633"/>
              </a:avLst>
            </a:prstGeom>
            <a:solidFill>
              <a:srgbClr val="1E293B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16"/>
            <p:cNvSpPr txBox="1"/>
            <p:nvPr/>
          </p:nvSpPr>
          <p:spPr>
            <a:xfrm>
              <a:off x="6572250" y="2000250"/>
              <a:ext cx="4572000" cy="145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950" b="1">
                  <a:solidFill>
                    <a:srgbClr val="FFFFFF"/>
                  </a:solidFill>
                  <a:latin typeface="Urbanist"/>
                  <a:ea typeface="Urbanist"/>
                  <a:cs typeface="Urbanist"/>
                  <a:sym typeface="Urbanist"/>
                </a:rPr>
                <a:t>連線獲勝判定</a:t>
              </a:r>
              <a:endParaRPr sz="1950" b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endParaRPr>
            </a:p>
            <a:p>
              <a:pPr marL="0" lvl="0" indent="0" algn="l" rtl="0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lang="en-US" sz="1650" b="0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系統在放置印記瞬間優先執行空間掃描判定（橫、直、斜 8 種可能）。若判定獲勝則寫入 </a:t>
              </a:r>
              <a:r>
                <a:rPr lang="en-US" sz="1650" b="1">
                  <a:solidFill>
                    <a:srgbClr val="38BDF8"/>
                  </a:solidFill>
                  <a:latin typeface="Urbanist"/>
                  <a:ea typeface="Urbanist"/>
                  <a:cs typeface="Urbanist"/>
                  <a:sym typeface="Urbanist"/>
                </a:rPr>
                <a:t>status: 'finished'</a:t>
              </a:r>
              <a:r>
                <a:rPr lang="en-US" sz="1650" b="0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，否則才執行 FIFO 消除。</a:t>
              </a:r>
              <a:endParaRPr sz="1650" b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sp>
          <p:nvSpPr>
            <p:cNvPr id="134" name="Google Shape;134;p16"/>
            <p:cNvSpPr/>
            <p:nvPr/>
          </p:nvSpPr>
          <p:spPr>
            <a:xfrm>
              <a:off x="762000" y="4000500"/>
              <a:ext cx="10668000" cy="2028900"/>
            </a:xfrm>
            <a:prstGeom prst="roundRect">
              <a:avLst>
                <a:gd name="adj" fmla="val 5633"/>
              </a:avLst>
            </a:prstGeom>
            <a:solidFill>
              <a:srgbClr val="1E293B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16"/>
            <p:cNvSpPr txBox="1"/>
            <p:nvPr/>
          </p:nvSpPr>
          <p:spPr>
            <a:xfrm>
              <a:off x="1047750" y="4286250"/>
              <a:ext cx="10096500" cy="145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950" b="1">
                  <a:solidFill>
                    <a:srgbClr val="FFFFFF"/>
                  </a:solidFill>
                  <a:latin typeface="Urbanist"/>
                  <a:ea typeface="Urbanist"/>
                  <a:cs typeface="Urbanist"/>
                  <a:sym typeface="Urbanist"/>
                </a:rPr>
                <a:t>動態性與視覺反饋</a:t>
              </a:r>
              <a:endParaRPr sz="1950" b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endParaRPr>
            </a:p>
            <a:p>
              <a:pPr marL="0" lvl="0" indent="0" algn="l" rtl="0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lang="en-US" sz="1650" b="0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戰局永遠處於變化中，無法產生絕對平手。</a:t>
              </a:r>
              <a:r>
                <a:rPr lang="en-US" sz="1650">
                  <a:solidFill>
                    <a:srgbClr val="CBD5E1"/>
                  </a:solidFill>
                </a:rPr>
                <a:t>這項機制徹底解決了傳統井字棋容易產生平手的缺點。為了優化 使用者體驗，我們設計了視覺預警系統 </a:t>
              </a:r>
              <a:endParaRPr sz="1650" b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1744265"/>
            <a:ext cx="5143500" cy="19942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1744265"/>
            <a:ext cx="5143500" cy="19942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62000" y="4119562"/>
            <a:ext cx="5143500" cy="19847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286500" y="4119562"/>
            <a:ext cx="5143500" cy="1984771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7"/>
          <p:cNvSpPr txBox="1"/>
          <p:nvPr/>
        </p:nvSpPr>
        <p:spPr>
          <a:xfrm>
            <a:off x="1000125" y="571500"/>
            <a:ext cx="10951368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技術架構：Cloud-Based Sync</a:t>
            </a:r>
            <a:endParaRPr/>
          </a:p>
        </p:txBody>
      </p:sp>
      <p:sp>
        <p:nvSpPr>
          <p:cNvPr id="146" name="Google Shape;146;p17"/>
          <p:cNvSpPr/>
          <p:nvPr/>
        </p:nvSpPr>
        <p:spPr>
          <a:xfrm>
            <a:off x="762000" y="571500"/>
            <a:ext cx="76200" cy="6096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7"/>
          <p:cNvSpPr txBox="1"/>
          <p:nvPr/>
        </p:nvSpPr>
        <p:spPr>
          <a:xfrm>
            <a:off x="11630025" y="6391275"/>
            <a:ext cx="180975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05</a:t>
            </a:r>
            <a:endParaRPr/>
          </a:p>
        </p:txBody>
      </p:sp>
      <p:sp>
        <p:nvSpPr>
          <p:cNvPr id="148" name="Google Shape;148;p17"/>
          <p:cNvSpPr txBox="1"/>
          <p:nvPr/>
        </p:nvSpPr>
        <p:spPr>
          <a:xfrm>
            <a:off x="1419225" y="2039540"/>
            <a:ext cx="44005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Firebase RTDB</a:t>
            </a:r>
            <a:endParaRPr/>
          </a:p>
        </p:txBody>
      </p:sp>
      <p:sp>
        <p:nvSpPr>
          <p:cNvPr id="149" name="Google Shape;149;p17"/>
          <p:cNvSpPr txBox="1"/>
          <p:nvPr/>
        </p:nvSpPr>
        <p:spPr>
          <a:xfrm>
            <a:off x="1057275" y="2553890"/>
            <a:ext cx="455295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核心數據中樞。透過 WebSocket 達成「事件驅動」的即時同步，取代傳統輪詢。</a:t>
            </a:r>
            <a:endParaRPr/>
          </a:p>
        </p:txBody>
      </p:sp>
      <p:sp>
        <p:nvSpPr>
          <p:cNvPr id="150" name="Google Shape;150;p17"/>
          <p:cNvSpPr txBox="1"/>
          <p:nvPr/>
        </p:nvSpPr>
        <p:spPr>
          <a:xfrm>
            <a:off x="7038975" y="2039540"/>
            <a:ext cx="4300537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Module JS</a:t>
            </a:r>
            <a:endParaRPr/>
          </a:p>
        </p:txBody>
      </p:sp>
      <p:sp>
        <p:nvSpPr>
          <p:cNvPr id="151" name="Google Shape;151;p17"/>
          <p:cNvSpPr txBox="1"/>
          <p:nvPr/>
        </p:nvSpPr>
        <p:spPr>
          <a:xfrm>
            <a:off x="6581775" y="2553890"/>
            <a:ext cx="4552950" cy="679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前端邏輯封裝。將大廳配對與遊戲本體解耦，利用 sessionStorage 進行狀態傳遞。</a:t>
            </a:r>
            <a:endParaRPr/>
          </a:p>
        </p:txBody>
      </p:sp>
      <p:sp>
        <p:nvSpPr>
          <p:cNvPr id="152" name="Google Shape;152;p17"/>
          <p:cNvSpPr txBox="1"/>
          <p:nvPr/>
        </p:nvSpPr>
        <p:spPr>
          <a:xfrm>
            <a:off x="1514475" y="4414837"/>
            <a:ext cx="4300537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Web Routing</a:t>
            </a:r>
            <a:endParaRPr/>
          </a:p>
        </p:txBody>
      </p:sp>
      <p:sp>
        <p:nvSpPr>
          <p:cNvPr id="153" name="Google Shape;153;p17"/>
          <p:cNvSpPr txBox="1"/>
          <p:nvPr/>
        </p:nvSpPr>
        <p:spPr>
          <a:xfrm>
            <a:off x="1057275" y="4929187"/>
            <a:ext cx="455295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基於 URL 解析的動態導向，支援不同資料夾結構下的路徑自動校正。</a:t>
            </a:r>
            <a:endParaRPr/>
          </a:p>
        </p:txBody>
      </p:sp>
      <p:sp>
        <p:nvSpPr>
          <p:cNvPr id="154" name="Google Shape;154;p17"/>
          <p:cNvSpPr txBox="1"/>
          <p:nvPr/>
        </p:nvSpPr>
        <p:spPr>
          <a:xfrm>
            <a:off x="6972300" y="4414837"/>
            <a:ext cx="4370546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Timestamping</a:t>
            </a:r>
            <a:endParaRPr/>
          </a:p>
        </p:txBody>
      </p:sp>
      <p:sp>
        <p:nvSpPr>
          <p:cNvPr id="155" name="Google Shape;155;p17"/>
          <p:cNvSpPr txBox="1"/>
          <p:nvPr/>
        </p:nvSpPr>
        <p:spPr>
          <a:xfrm>
            <a:off x="6581775" y="4929187"/>
            <a:ext cx="455295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伺服器端時間紀錄，確保倒數計時與離線偵測的精準度。</a:t>
            </a:r>
            <a:endParaRPr/>
          </a:p>
        </p:txBody>
      </p:sp>
      <p:pic>
        <p:nvPicPr>
          <p:cNvPr id="156" name="Google Shape;156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057275" y="2068115"/>
            <a:ext cx="2190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581775" y="2068115"/>
            <a:ext cx="3143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7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057275" y="4443412"/>
            <a:ext cx="3143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7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581775" y="4443412"/>
            <a:ext cx="24765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3392090"/>
            <a:ext cx="5143500" cy="2106215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8"/>
          <p:cNvSpPr txBox="1"/>
          <p:nvPr/>
        </p:nvSpPr>
        <p:spPr>
          <a:xfrm>
            <a:off x="1000125" y="571500"/>
            <a:ext cx="10951368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配對邏輯：原子化交易</a:t>
            </a:r>
            <a:endParaRPr/>
          </a:p>
        </p:txBody>
      </p:sp>
      <p:sp>
        <p:nvSpPr>
          <p:cNvPr id="167" name="Google Shape;167;p18"/>
          <p:cNvSpPr/>
          <p:nvPr/>
        </p:nvSpPr>
        <p:spPr>
          <a:xfrm>
            <a:off x="762000" y="571500"/>
            <a:ext cx="76200" cy="5619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8"/>
          <p:cNvSpPr txBox="1"/>
          <p:nvPr/>
        </p:nvSpPr>
        <p:spPr>
          <a:xfrm>
            <a:off x="11641465" y="6400800"/>
            <a:ext cx="3549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06</a:t>
            </a:r>
            <a:endParaRPr/>
          </a:p>
        </p:txBody>
      </p:sp>
      <p:sp>
        <p:nvSpPr>
          <p:cNvPr id="169" name="Google Shape;169;p18"/>
          <p:cNvSpPr txBox="1"/>
          <p:nvPr/>
        </p:nvSpPr>
        <p:spPr>
          <a:xfrm>
            <a:off x="762000" y="2512218"/>
            <a:ext cx="514350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為解決多用戶同時存取產生的 Race Condition，採用 </a:t>
            </a:r>
            <a:r>
              <a:rPr lang="en-US" sz="165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runTransaction</a:t>
            </a: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機制：</a:t>
            </a:r>
            <a:endParaRPr/>
          </a:p>
        </p:txBody>
      </p:sp>
      <p:sp>
        <p:nvSpPr>
          <p:cNvPr id="170" name="Google Shape;170;p18"/>
          <p:cNvSpPr txBox="1"/>
          <p:nvPr/>
        </p:nvSpPr>
        <p:spPr>
          <a:xfrm>
            <a:off x="6667500" y="2302668"/>
            <a:ext cx="47625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房主角色：</a:t>
            </a: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第 1 人初始化數據</a:t>
            </a:r>
            <a:r>
              <a:rPr lang="en-US" sz="165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，狀態變為waiting</a:t>
            </a: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。</a:t>
            </a:r>
            <a:endParaRPr/>
          </a:p>
        </p:txBody>
      </p:sp>
      <p:sp>
        <p:nvSpPr>
          <p:cNvPr id="171" name="Google Shape;171;p18"/>
          <p:cNvSpPr txBox="1"/>
          <p:nvPr/>
        </p:nvSpPr>
        <p:spPr>
          <a:xfrm>
            <a:off x="6667500" y="2809279"/>
            <a:ext cx="4762500" cy="344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挑戰者：</a:t>
            </a: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第 2 人將狀態變更為 playing。</a:t>
            </a:r>
            <a:endParaRPr/>
          </a:p>
        </p:txBody>
      </p:sp>
      <p:sp>
        <p:nvSpPr>
          <p:cNvPr id="172" name="Google Shape;172;p18"/>
          <p:cNvSpPr txBox="1"/>
          <p:nvPr/>
        </p:nvSpPr>
        <p:spPr>
          <a:xfrm>
            <a:off x="6667500" y="3325415"/>
            <a:ext cx="476250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自動跳轉：</a:t>
            </a: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雙方監聽到狀態改變後，同步載入棋盤頁面。</a:t>
            </a:r>
            <a:endParaRPr/>
          </a:p>
        </p:txBody>
      </p:sp>
      <p:pic>
        <p:nvPicPr>
          <p:cNvPr id="173" name="Google Shape;173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2302668"/>
            <a:ext cx="133498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2809279"/>
            <a:ext cx="133498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3325415"/>
            <a:ext cx="133498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0" name="Google Shape;180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2449115"/>
            <a:ext cx="5143500" cy="29027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2449115"/>
            <a:ext cx="5143500" cy="2902743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9"/>
          <p:cNvSpPr txBox="1"/>
          <p:nvPr/>
        </p:nvSpPr>
        <p:spPr>
          <a:xfrm>
            <a:off x="1000125" y="571500"/>
            <a:ext cx="10951368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挑戰：幽靈房間與重置循環</a:t>
            </a:r>
            <a:endParaRPr/>
          </a:p>
        </p:txBody>
      </p:sp>
      <p:sp>
        <p:nvSpPr>
          <p:cNvPr id="184" name="Google Shape;184;p19"/>
          <p:cNvSpPr/>
          <p:nvPr/>
        </p:nvSpPr>
        <p:spPr>
          <a:xfrm>
            <a:off x="762000" y="571500"/>
            <a:ext cx="76200" cy="5619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9"/>
          <p:cNvSpPr txBox="1"/>
          <p:nvPr/>
        </p:nvSpPr>
        <p:spPr>
          <a:xfrm>
            <a:off x="11641469" y="6400800"/>
            <a:ext cx="3099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07</a:t>
            </a:r>
            <a:endParaRPr/>
          </a:p>
        </p:txBody>
      </p:sp>
      <p:sp>
        <p:nvSpPr>
          <p:cNvPr id="186" name="Google Shape;186;p19"/>
          <p:cNvSpPr txBox="1"/>
          <p:nvPr/>
        </p:nvSpPr>
        <p:spPr>
          <a:xfrm>
            <a:off x="1392882" y="2744390"/>
            <a:ext cx="4428209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幽靈房間問題</a:t>
            </a:r>
            <a:endParaRPr/>
          </a:p>
        </p:txBody>
      </p:sp>
      <p:sp>
        <p:nvSpPr>
          <p:cNvPr id="187" name="Google Shape;187;p19"/>
          <p:cNvSpPr txBox="1"/>
          <p:nvPr/>
        </p:nvSpPr>
        <p:spPr>
          <a:xfrm>
            <a:off x="1057275" y="3287315"/>
            <a:ext cx="455295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當玩家直接關閉分頁，Firebase 數據依然殘留，導致下一位玩家進入「死房」。</a:t>
            </a:r>
            <a:endParaRPr/>
          </a:p>
        </p:txBody>
      </p:sp>
      <p:sp>
        <p:nvSpPr>
          <p:cNvPr id="188" name="Google Shape;188;p19"/>
          <p:cNvSpPr txBox="1"/>
          <p:nvPr/>
        </p:nvSpPr>
        <p:spPr>
          <a:xfrm>
            <a:off x="1057275" y="4167187"/>
            <a:ext cx="4552950" cy="679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解法：</a:t>
            </a:r>
            <a:r>
              <a:rPr lang="en-US" sz="1650" b="0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 導入 onDisconnect().remove()，達成「人走房毀」。</a:t>
            </a:r>
            <a:endParaRPr/>
          </a:p>
        </p:txBody>
      </p:sp>
      <p:sp>
        <p:nvSpPr>
          <p:cNvPr id="189" name="Google Shape;189;p19"/>
          <p:cNvSpPr txBox="1"/>
          <p:nvPr/>
        </p:nvSpPr>
        <p:spPr>
          <a:xfrm>
            <a:off x="6917382" y="2744390"/>
            <a:ext cx="4428209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無限重連迴圈</a:t>
            </a:r>
            <a:endParaRPr/>
          </a:p>
        </p:txBody>
      </p:sp>
      <p:sp>
        <p:nvSpPr>
          <p:cNvPr id="190" name="Google Shape;190;p19"/>
          <p:cNvSpPr txBox="1"/>
          <p:nvPr/>
        </p:nvSpPr>
        <p:spPr>
          <a:xfrm>
            <a:off x="6581775" y="3287315"/>
            <a:ext cx="45529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跳轉與監聽器重疊觸發衝突。</a:t>
            </a:r>
            <a:endParaRPr/>
          </a:p>
        </p:txBody>
      </p:sp>
      <p:sp>
        <p:nvSpPr>
          <p:cNvPr id="191" name="Google Shape;191;p19"/>
          <p:cNvSpPr txBox="1"/>
          <p:nvPr/>
        </p:nvSpPr>
        <p:spPr>
          <a:xfrm>
            <a:off x="6581775" y="3832026"/>
            <a:ext cx="4552950" cy="679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解法：</a:t>
            </a:r>
            <a:r>
              <a:rPr lang="en-US" sz="1650" b="0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 使用 unsubscribe() 立即卸載大廳監聽器，並配合 300ms 隨機延遲。</a:t>
            </a:r>
            <a:endParaRPr/>
          </a:p>
        </p:txBody>
      </p:sp>
      <p:pic>
        <p:nvPicPr>
          <p:cNvPr id="192" name="Google Shape;192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57275" y="2787253"/>
            <a:ext cx="192732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581775" y="2787253"/>
            <a:ext cx="192732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8" name="Google Shape;198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0"/>
          <p:cNvSpPr txBox="1"/>
          <p:nvPr/>
        </p:nvSpPr>
        <p:spPr>
          <a:xfrm>
            <a:off x="1000125" y="571500"/>
            <a:ext cx="10951368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介面設計與 UX 反饋</a:t>
            </a:r>
            <a:endParaRPr/>
          </a:p>
        </p:txBody>
      </p:sp>
      <p:sp>
        <p:nvSpPr>
          <p:cNvPr id="200" name="Google Shape;200;p20"/>
          <p:cNvSpPr/>
          <p:nvPr/>
        </p:nvSpPr>
        <p:spPr>
          <a:xfrm>
            <a:off x="762000" y="571500"/>
            <a:ext cx="76200" cy="6096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0"/>
          <p:cNvSpPr txBox="1"/>
          <p:nvPr/>
        </p:nvSpPr>
        <p:spPr>
          <a:xfrm>
            <a:off x="11630025" y="6391275"/>
            <a:ext cx="180975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08</a:t>
            </a:r>
            <a:endParaRPr/>
          </a:p>
        </p:txBody>
      </p:sp>
      <p:sp>
        <p:nvSpPr>
          <p:cNvPr id="202" name="Google Shape;202;p20"/>
          <p:cNvSpPr txBox="1"/>
          <p:nvPr/>
        </p:nvSpPr>
        <p:spPr>
          <a:xfrm>
            <a:off x="1143000" y="2408336"/>
            <a:ext cx="47625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響應式棋盤：</a:t>
            </a: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Grid 佈局自適應不同設備螢幕。</a:t>
            </a:r>
            <a:endParaRPr/>
          </a:p>
        </p:txBody>
      </p:sp>
      <p:sp>
        <p:nvSpPr>
          <p:cNvPr id="203" name="Google Shape;203;p20"/>
          <p:cNvSpPr txBox="1"/>
          <p:nvPr/>
        </p:nvSpPr>
        <p:spPr>
          <a:xfrm>
            <a:off x="1143000" y="2914947"/>
            <a:ext cx="476250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角色辨識：</a:t>
            </a: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明確標示「你是藍方」或「你是紅方」，解決操作困惑。</a:t>
            </a:r>
            <a:endParaRPr/>
          </a:p>
        </p:txBody>
      </p:sp>
      <p:sp>
        <p:nvSpPr>
          <p:cNvPr id="204" name="Google Shape;204;p20"/>
          <p:cNvSpPr txBox="1"/>
          <p:nvPr/>
        </p:nvSpPr>
        <p:spPr>
          <a:xfrm>
            <a:off x="1143000" y="3756719"/>
            <a:ext cx="476250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狀態同步：</a:t>
            </a: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整合遊戲紀錄、悔棋次數、與回合計時器。</a:t>
            </a:r>
            <a:endParaRPr/>
          </a:p>
        </p:txBody>
      </p:sp>
      <p:sp>
        <p:nvSpPr>
          <p:cNvPr id="205" name="Google Shape;205;p20"/>
          <p:cNvSpPr txBox="1"/>
          <p:nvPr/>
        </p:nvSpPr>
        <p:spPr>
          <a:xfrm>
            <a:off x="1143000" y="4598491"/>
            <a:ext cx="476250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防呆機制：</a:t>
            </a: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非當前回合玩家點擊無效，並給予視覺提示。</a:t>
            </a:r>
            <a:endParaRPr/>
          </a:p>
        </p:txBody>
      </p:sp>
      <p:pic>
        <p:nvPicPr>
          <p:cNvPr id="206" name="Google Shape;206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2408336"/>
            <a:ext cx="1047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2914947"/>
            <a:ext cx="1047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3756719"/>
            <a:ext cx="1047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4598491"/>
            <a:ext cx="1047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37750" y="2344050"/>
            <a:ext cx="3399675" cy="442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237750" y="103575"/>
            <a:ext cx="3399675" cy="22404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2845296"/>
            <a:ext cx="10668000" cy="2110382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21"/>
          <p:cNvSpPr txBox="1"/>
          <p:nvPr/>
        </p:nvSpPr>
        <p:spPr>
          <a:xfrm>
            <a:off x="1000125" y="571500"/>
            <a:ext cx="10951368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專題總結與心得</a:t>
            </a:r>
            <a:endParaRPr/>
          </a:p>
        </p:txBody>
      </p:sp>
      <p:sp>
        <p:nvSpPr>
          <p:cNvPr id="219" name="Google Shape;219;p21"/>
          <p:cNvSpPr/>
          <p:nvPr/>
        </p:nvSpPr>
        <p:spPr>
          <a:xfrm>
            <a:off x="762000" y="571500"/>
            <a:ext cx="76200" cy="5619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1"/>
          <p:cNvSpPr txBox="1"/>
          <p:nvPr/>
        </p:nvSpPr>
        <p:spPr>
          <a:xfrm>
            <a:off x="11641469" y="6400800"/>
            <a:ext cx="3099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09</a:t>
            </a:r>
            <a:endParaRPr/>
          </a:p>
        </p:txBody>
      </p:sp>
      <p:sp>
        <p:nvSpPr>
          <p:cNvPr id="221" name="Google Shape;221;p21"/>
          <p:cNvSpPr txBox="1"/>
          <p:nvPr/>
        </p:nvSpPr>
        <p:spPr>
          <a:xfrm>
            <a:off x="1438275" y="3140571"/>
            <a:ext cx="96964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技術整合：</a:t>
            </a: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成功將 Firebase NoSQL 資料庫與前端 JavaScript 深度結合。</a:t>
            </a:r>
            <a:endParaRPr/>
          </a:p>
        </p:txBody>
      </p:sp>
      <p:sp>
        <p:nvSpPr>
          <p:cNvPr id="222" name="Google Shape;222;p21"/>
          <p:cNvSpPr txBox="1"/>
          <p:nvPr/>
        </p:nvSpPr>
        <p:spPr>
          <a:xfrm>
            <a:off x="1438275" y="3647182"/>
            <a:ext cx="96964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邏輯驗證：</a:t>
            </a: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透過「無限規則」設計，驗證了複數狀態機在即時系統中的運作效率。</a:t>
            </a:r>
            <a:endParaRPr/>
          </a:p>
        </p:txBody>
      </p:sp>
      <p:sp>
        <p:nvSpPr>
          <p:cNvPr id="223" name="Google Shape;223;p21"/>
          <p:cNvSpPr txBox="1"/>
          <p:nvPr/>
        </p:nvSpPr>
        <p:spPr>
          <a:xfrm>
            <a:off x="1438275" y="4153792"/>
            <a:ext cx="96964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穩定運作：</a:t>
            </a: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克服了 WebSocket 環境下的連線生命週期管理，達成自動化配對循環。</a:t>
            </a:r>
            <a:endParaRPr/>
          </a:p>
        </p:txBody>
      </p:sp>
      <p:pic>
        <p:nvPicPr>
          <p:cNvPr id="224" name="Google Shape;224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57275" y="3140571"/>
            <a:ext cx="133498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57275" y="3647182"/>
            <a:ext cx="133498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57275" y="4153792"/>
            <a:ext cx="133498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1" name="Google Shape;231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2893814"/>
            <a:ext cx="5143500" cy="201334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2893814"/>
            <a:ext cx="5143500" cy="2013346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22"/>
          <p:cNvSpPr txBox="1"/>
          <p:nvPr/>
        </p:nvSpPr>
        <p:spPr>
          <a:xfrm>
            <a:off x="1000125" y="571500"/>
            <a:ext cx="10951368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未來展望</a:t>
            </a:r>
            <a:endParaRPr/>
          </a:p>
        </p:txBody>
      </p:sp>
      <p:sp>
        <p:nvSpPr>
          <p:cNvPr id="235" name="Google Shape;235;p22"/>
          <p:cNvSpPr/>
          <p:nvPr/>
        </p:nvSpPr>
        <p:spPr>
          <a:xfrm>
            <a:off x="762000" y="571500"/>
            <a:ext cx="76200" cy="5619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2"/>
          <p:cNvSpPr txBox="1"/>
          <p:nvPr/>
        </p:nvSpPr>
        <p:spPr>
          <a:xfrm>
            <a:off x="11641484" y="6400800"/>
            <a:ext cx="169515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10</a:t>
            </a:r>
            <a:endParaRPr/>
          </a:p>
        </p:txBody>
      </p:sp>
      <p:sp>
        <p:nvSpPr>
          <p:cNvPr id="237" name="Google Shape;237;p22"/>
          <p:cNvSpPr txBox="1"/>
          <p:nvPr/>
        </p:nvSpPr>
        <p:spPr>
          <a:xfrm>
            <a:off x="1392882" y="3189089"/>
            <a:ext cx="4428209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多房模式</a:t>
            </a:r>
            <a:endParaRPr/>
          </a:p>
        </p:txBody>
      </p:sp>
      <p:sp>
        <p:nvSpPr>
          <p:cNvPr id="238" name="Google Shape;238;p22"/>
          <p:cNvSpPr txBox="1"/>
          <p:nvPr/>
        </p:nvSpPr>
        <p:spPr>
          <a:xfrm>
            <a:off x="1057275" y="3732014"/>
            <a:ext cx="455295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建立房間列表系統，支援多組玩家同時在不同房間進行對戰。</a:t>
            </a:r>
            <a:endParaRPr/>
          </a:p>
        </p:txBody>
      </p:sp>
      <p:sp>
        <p:nvSpPr>
          <p:cNvPr id="239" name="Google Shape;239;p22"/>
          <p:cNvSpPr txBox="1"/>
          <p:nvPr/>
        </p:nvSpPr>
        <p:spPr>
          <a:xfrm>
            <a:off x="6917382" y="3189089"/>
            <a:ext cx="4428209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AI 對戰模式</a:t>
            </a:r>
            <a:endParaRPr/>
          </a:p>
        </p:txBody>
      </p:sp>
      <p:sp>
        <p:nvSpPr>
          <p:cNvPr id="240" name="Google Shape;240;p22"/>
          <p:cNvSpPr txBox="1"/>
          <p:nvPr/>
        </p:nvSpPr>
        <p:spPr>
          <a:xfrm>
            <a:off x="6581775" y="3732014"/>
            <a:ext cx="455295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引入 Minimax 演算法，在離線或無對手時提供單機練習模式。</a:t>
            </a:r>
            <a:endParaRPr/>
          </a:p>
        </p:txBody>
      </p:sp>
      <p:pic>
        <p:nvPicPr>
          <p:cNvPr id="241" name="Google Shape;241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57275" y="3231951"/>
            <a:ext cx="192732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22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581775" y="3231951"/>
            <a:ext cx="192732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7" name="Google Shape;247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3"/>
          <p:cNvSpPr txBox="1"/>
          <p:nvPr/>
        </p:nvSpPr>
        <p:spPr>
          <a:xfrm>
            <a:off x="3784957" y="2591780"/>
            <a:ext cx="47418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THANK YOU</a:t>
            </a:r>
            <a:endParaRPr/>
          </a:p>
        </p:txBody>
      </p:sp>
      <p:sp>
        <p:nvSpPr>
          <p:cNvPr id="249" name="Google Shape;249;p23"/>
          <p:cNvSpPr txBox="1"/>
          <p:nvPr/>
        </p:nvSpPr>
        <p:spPr>
          <a:xfrm>
            <a:off x="3725082" y="3876430"/>
            <a:ext cx="47418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感謝您的聆聽與指教</a:t>
            </a:r>
            <a:endParaRPr/>
          </a:p>
        </p:txBody>
      </p:sp>
      <p:sp>
        <p:nvSpPr>
          <p:cNvPr id="250" name="Google Shape;250;p23"/>
          <p:cNvSpPr/>
          <p:nvPr/>
        </p:nvSpPr>
        <p:spPr>
          <a:xfrm>
            <a:off x="3838054" y="4472280"/>
            <a:ext cx="4515900" cy="192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3"/>
          <p:cNvSpPr txBox="1"/>
          <p:nvPr/>
        </p:nvSpPr>
        <p:spPr>
          <a:xfrm>
            <a:off x="3837979" y="4782530"/>
            <a:ext cx="45159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(Q&amp;A)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288</Words>
  <Application>Microsoft Office PowerPoint</Application>
  <PresentationFormat>寬螢幕</PresentationFormat>
  <Paragraphs>66</Paragraphs>
  <Slides>11</Slides>
  <Notes>11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11</vt:i4>
      </vt:variant>
    </vt:vector>
  </HeadingPairs>
  <TitlesOfParts>
    <vt:vector size="15" baseType="lpstr">
      <vt:lpstr>Urbanist</vt:lpstr>
      <vt:lpstr>Arial</vt:lpstr>
      <vt:lpstr>Calibri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林 柏翰</cp:lastModifiedBy>
  <cp:revision>1</cp:revision>
  <dcterms:modified xsi:type="dcterms:W3CDTF">2026-06-14T16:12:59Z</dcterms:modified>
</cp:coreProperties>
</file>